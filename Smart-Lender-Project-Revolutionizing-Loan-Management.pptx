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embeddedFontLst>
    <p:embeddedFont>
      <p:font typeface="Patrick Hand"/>
      <p:regular r:id="rId201314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7F7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image" Target="../media/image-2-2.jpeg"/><Relationship Id="rId3" Type="http://schemas.openxmlformats.org/officeDocument/2006/relationships/image" Target="../media/image-2-3.jpe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image" Target="../media/image-4-2.png"/><Relationship Id="rId3" Type="http://schemas.openxmlformats.org/officeDocument/2006/relationships/image" Target="../media/image-4-3.svg"/><Relationship Id="rId4" Type="http://schemas.openxmlformats.org/officeDocument/2006/relationships/image" Target="../media/image-4-2.png"/><Relationship Id="rId5" Type="http://schemas.openxmlformats.org/officeDocument/2006/relationships/image" Target="../media/image-4-3.sv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image" Target="../media/image-6-2.png"/><Relationship Id="rId3" Type="http://schemas.openxmlformats.org/officeDocument/2006/relationships/image" Target="../media/image-6-3.svg"/><Relationship Id="rId4" Type="http://schemas.openxmlformats.org/officeDocument/2006/relationships/image" Target="../media/image-6-4.png"/><Relationship Id="rId5" Type="http://schemas.openxmlformats.org/officeDocument/2006/relationships/image" Target="../media/image-6-5.sv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jpe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69023" y="1699989"/>
            <a:ext cx="4634954" cy="7713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Smart Lender Project: Revolutionizing Loan Management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3969023" y="2702793"/>
            <a:ext cx="4634954" cy="7407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2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 A next-generation lending platform that combines AI, secure distributed ledgers, and human-centered design to streamline credit decisions, reduce fraud, and expand access to fair capital.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0023" y="1503164"/>
            <a:ext cx="8063954" cy="3085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The Current Landscape</a:t>
            </a:r>
            <a:endParaRPr lang="en-US" sz="19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0023" y="2120354"/>
            <a:ext cx="742206" cy="45868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75110" y="2120354"/>
            <a:ext cx="1624310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Inefficient operations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475110" y="2405807"/>
            <a:ext cx="1624310" cy="9876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2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Weighty manual reviews, long turnaround times, and high operational cost per application.</a:t>
            </a:r>
            <a:endParaRPr lang="en-US" sz="12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2301" y="2120354"/>
            <a:ext cx="742206" cy="45868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227388" y="2120354"/>
            <a:ext cx="1624310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Bias &amp; data gaps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4227388" y="2405807"/>
            <a:ext cx="1624310" cy="12345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2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Traditional credit models exclude thin-file or informal-economy borrowers, perpetuating credit inequality.</a:t>
            </a:r>
            <a:endParaRPr lang="en-US" sz="12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44580" y="2120354"/>
            <a:ext cx="742206" cy="45868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979667" y="2120354"/>
            <a:ext cx="1624310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Fraud &amp; opacity</a:t>
            </a:r>
            <a:endParaRPr lang="en-US" sz="1200" dirty="0"/>
          </a:p>
        </p:txBody>
      </p:sp>
      <p:sp>
        <p:nvSpPr>
          <p:cNvPr id="11" name="Text 6"/>
          <p:cNvSpPr/>
          <p:nvPr/>
        </p:nvSpPr>
        <p:spPr>
          <a:xfrm>
            <a:off x="6979667" y="2405807"/>
            <a:ext cx="1624310" cy="9876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2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Lack of transparent audit trails and weak data provenance increase fraud risk and regulatory friction.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69023" y="1412602"/>
            <a:ext cx="4634954" cy="3085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Introducing Smart Lender</a:t>
            </a:r>
            <a:endParaRPr lang="en-US" sz="1900" dirty="0"/>
          </a:p>
        </p:txBody>
      </p:sp>
      <p:sp>
        <p:nvSpPr>
          <p:cNvPr id="4" name="Text 1"/>
          <p:cNvSpPr/>
          <p:nvPr/>
        </p:nvSpPr>
        <p:spPr>
          <a:xfrm>
            <a:off x="3969023" y="1952625"/>
            <a:ext cx="4634954" cy="7407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2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     Vision: build a trusted, scalable platform that automates credit decisions while preserving human oversight.     Core principles: fairness, explainability, security, and extensibility for diverse markets.   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3969023" y="2866876"/>
            <a:ext cx="4634954" cy="864022"/>
          </a:xfrm>
          <a:prstGeom prst="roundRect">
            <a:avLst>
              <a:gd name="adj" fmla="val 7501"/>
            </a:avLst>
          </a:prstGeom>
          <a:solidFill>
            <a:srgbClr val="E6E6E6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23283" y="3086621"/>
            <a:ext cx="192881" cy="15426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470425" y="3059683"/>
            <a:ext cx="3979292" cy="4938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 Focus: Make lending faster, fairer, and auditable — without sacrificing regulatory compliance.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0023" y="437555"/>
            <a:ext cx="8063954" cy="260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Key Feature — AI-Powered Credit Scoring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40023" y="1795388"/>
            <a:ext cx="3873178" cy="5761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0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         Machine learning models combine traditional credit history with alternative signals (payment apps, cash flow patterns, utility records) to score applicants more inclusively.       </a:t>
            </a:r>
            <a:endParaRPr lang="en-US" sz="10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35562" y="986135"/>
            <a:ext cx="3873178" cy="2194768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40023" y="3427958"/>
            <a:ext cx="3977060" cy="1277913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2450381" y="3525589"/>
            <a:ext cx="156195" cy="1952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3"/>
          <p:cNvSpPr/>
          <p:nvPr/>
        </p:nvSpPr>
        <p:spPr>
          <a:xfrm>
            <a:off x="684461" y="3948708"/>
            <a:ext cx="3688184" cy="1627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Explainable models</a:t>
            </a:r>
            <a:endParaRPr lang="en-US" sz="1000" dirty="0"/>
          </a:p>
        </p:txBody>
      </p:sp>
      <p:sp>
        <p:nvSpPr>
          <p:cNvPr id="8" name="Text 4"/>
          <p:cNvSpPr/>
          <p:nvPr/>
        </p:nvSpPr>
        <p:spPr>
          <a:xfrm>
            <a:off x="684461" y="4177308"/>
            <a:ext cx="3688184" cy="3841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0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Transparent feature attributions for every decision so underwriters and customers see why a score was assigned.</a:t>
            </a:r>
            <a:endParaRPr lang="en-US" sz="10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26918" y="3427958"/>
            <a:ext cx="3977060" cy="1277913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537275" y="3525589"/>
            <a:ext cx="156195" cy="1952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6"/>
          <p:cNvSpPr/>
          <p:nvPr/>
        </p:nvSpPr>
        <p:spPr>
          <a:xfrm>
            <a:off x="4771355" y="3948708"/>
            <a:ext cx="3688184" cy="1627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Adaptive risk tuning</a:t>
            </a:r>
            <a:endParaRPr lang="en-US" sz="1000" dirty="0"/>
          </a:p>
        </p:txBody>
      </p:sp>
      <p:sp>
        <p:nvSpPr>
          <p:cNvPr id="12" name="Text 7"/>
          <p:cNvSpPr/>
          <p:nvPr/>
        </p:nvSpPr>
        <p:spPr>
          <a:xfrm>
            <a:off x="4771355" y="4177308"/>
            <a:ext cx="3688184" cy="3841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0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Continuous learning with guardrails to prevent drift and preserve fairness across cohorts.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0023" y="1098426"/>
            <a:ext cx="4634954" cy="3085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Streamlined Workflow</a:t>
            </a:r>
            <a:endParaRPr lang="en-US" sz="190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023" y="1638449"/>
            <a:ext cx="4634954" cy="1739205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4284987" y="2968913"/>
            <a:ext cx="699072" cy="1077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6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Disburse</a:t>
            </a:r>
            <a:endParaRPr lang="en-US" sz="650" dirty="0"/>
          </a:p>
        </p:txBody>
      </p:sp>
      <p:sp>
        <p:nvSpPr>
          <p:cNvPr id="6" name="Text 2"/>
          <p:cNvSpPr/>
          <p:nvPr/>
        </p:nvSpPr>
        <p:spPr>
          <a:xfrm>
            <a:off x="3403964" y="2968913"/>
            <a:ext cx="699073" cy="1077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6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Review</a:t>
            </a:r>
            <a:endParaRPr lang="en-US" sz="650" dirty="0"/>
          </a:p>
        </p:txBody>
      </p:sp>
      <p:sp>
        <p:nvSpPr>
          <p:cNvPr id="7" name="Text 3"/>
          <p:cNvSpPr/>
          <p:nvPr/>
        </p:nvSpPr>
        <p:spPr>
          <a:xfrm>
            <a:off x="2527729" y="2968913"/>
            <a:ext cx="699072" cy="1077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6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AI Score</a:t>
            </a:r>
            <a:endParaRPr lang="en-US" sz="650" dirty="0"/>
          </a:p>
        </p:txBody>
      </p:sp>
      <p:sp>
        <p:nvSpPr>
          <p:cNvPr id="8" name="Text 4"/>
          <p:cNvSpPr/>
          <p:nvPr/>
        </p:nvSpPr>
        <p:spPr>
          <a:xfrm>
            <a:off x="1651494" y="2968913"/>
            <a:ext cx="699073" cy="1077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6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Verify</a:t>
            </a:r>
            <a:endParaRPr lang="en-US" sz="650" dirty="0"/>
          </a:p>
        </p:txBody>
      </p:sp>
      <p:sp>
        <p:nvSpPr>
          <p:cNvPr id="9" name="Text 5"/>
          <p:cNvSpPr/>
          <p:nvPr/>
        </p:nvSpPr>
        <p:spPr>
          <a:xfrm>
            <a:off x="756107" y="2968913"/>
            <a:ext cx="699073" cy="1077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6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Apply</a:t>
            </a:r>
            <a:endParaRPr lang="en-US" sz="650" dirty="0"/>
          </a:p>
        </p:txBody>
      </p:sp>
      <p:sp>
        <p:nvSpPr>
          <p:cNvPr id="10" name="Text 6"/>
          <p:cNvSpPr/>
          <p:nvPr/>
        </p:nvSpPr>
        <p:spPr>
          <a:xfrm>
            <a:off x="540023" y="3551188"/>
            <a:ext cx="4634954" cy="4938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2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 End-to-end flow reduces decision time from days to hours. Human underwriters intervene only for flagged exceptions, improving throughput and accuracy.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0023" y="443136"/>
            <a:ext cx="8063954" cy="3085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Enhanced Security — Blockchain for Trust</a:t>
            </a:r>
            <a:endParaRPr lang="en-US" sz="1900" dirty="0"/>
          </a:p>
        </p:txBody>
      </p:sp>
      <p:sp>
        <p:nvSpPr>
          <p:cNvPr id="3" name="Text 1"/>
          <p:cNvSpPr/>
          <p:nvPr/>
        </p:nvSpPr>
        <p:spPr>
          <a:xfrm>
            <a:off x="540023" y="1994967"/>
            <a:ext cx="3421707" cy="7407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2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         Immutable transaction logs and verifiable document anchors ensure provenance of KYC, approvals, and repayments — simplifying audits and dispute resolution.       </a:t>
            </a:r>
            <a:endParaRPr lang="en-US" sz="1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42879" y="1156692"/>
            <a:ext cx="4265786" cy="2417266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40023" y="3921026"/>
            <a:ext cx="385763" cy="385763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118667" y="3921026"/>
            <a:ext cx="3356893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Auditability</a:t>
            </a:r>
            <a:endParaRPr lang="en-US" sz="1200" dirty="0"/>
          </a:p>
        </p:txBody>
      </p:sp>
      <p:sp>
        <p:nvSpPr>
          <p:cNvPr id="7" name="Text 3"/>
          <p:cNvSpPr/>
          <p:nvPr/>
        </p:nvSpPr>
        <p:spPr>
          <a:xfrm>
            <a:off x="1118667" y="4206478"/>
            <a:ext cx="3356893" cy="4938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2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Transparent, time-stamped records for regulators and partners.</a:t>
            </a:r>
            <a:endParaRPr lang="en-US" sz="120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68441" y="3921026"/>
            <a:ext cx="385763" cy="385763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5247084" y="3921026"/>
            <a:ext cx="3356893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Data integrity</a:t>
            </a:r>
            <a:endParaRPr lang="en-US" sz="1200" dirty="0"/>
          </a:p>
        </p:txBody>
      </p:sp>
      <p:sp>
        <p:nvSpPr>
          <p:cNvPr id="10" name="Text 5"/>
          <p:cNvSpPr/>
          <p:nvPr/>
        </p:nvSpPr>
        <p:spPr>
          <a:xfrm>
            <a:off x="5247084" y="4206478"/>
            <a:ext cx="3356893" cy="2469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2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Tamper-evident storage for critical borrower documents.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0023" y="1626617"/>
            <a:ext cx="8063954" cy="3085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Benefits for Lenders</a:t>
            </a:r>
            <a:endParaRPr lang="en-US" sz="19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0023" y="2243807"/>
            <a:ext cx="563017" cy="70373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95921" y="2243807"/>
            <a:ext cx="1803499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Operational efficiency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295921" y="2529260"/>
            <a:ext cx="1803499" cy="7407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2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Lower cost per loan through automation and exception-based human review.</a:t>
            </a:r>
            <a:endParaRPr lang="en-US" sz="12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2301" y="2243807"/>
            <a:ext cx="563017" cy="70373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048199" y="2243807"/>
            <a:ext cx="1803499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Reduced credit risk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4048199" y="2529260"/>
            <a:ext cx="1803499" cy="7407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2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Improved accuracy in risk assessment using broader data and adaptive models.</a:t>
            </a:r>
            <a:endParaRPr lang="en-US" sz="12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44580" y="2243807"/>
            <a:ext cx="563017" cy="703734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800478" y="2243807"/>
            <a:ext cx="1803499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Increased profitability</a:t>
            </a:r>
            <a:endParaRPr lang="en-US" sz="1200" dirty="0"/>
          </a:p>
        </p:txBody>
      </p:sp>
      <p:sp>
        <p:nvSpPr>
          <p:cNvPr id="11" name="Text 6"/>
          <p:cNvSpPr/>
          <p:nvPr/>
        </p:nvSpPr>
        <p:spPr>
          <a:xfrm>
            <a:off x="6800478" y="2529260"/>
            <a:ext cx="1803499" cy="9876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2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Faster approvals and better pricing enable higher conversion and better portfolio returns.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0023" y="725612"/>
            <a:ext cx="8063954" cy="3085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Benefits for Borrowers</a:t>
            </a:r>
            <a:endParaRPr lang="en-US" sz="1900" dirty="0"/>
          </a:p>
        </p:txBody>
      </p:sp>
      <p:sp>
        <p:nvSpPr>
          <p:cNvPr id="3" name="Shape 1"/>
          <p:cNvSpPr/>
          <p:nvPr/>
        </p:nvSpPr>
        <p:spPr>
          <a:xfrm>
            <a:off x="540023" y="1439168"/>
            <a:ext cx="347142" cy="347142"/>
          </a:xfrm>
          <a:prstGeom prst="roundRect">
            <a:avLst>
              <a:gd name="adj" fmla="val 18669"/>
            </a:avLst>
          </a:prstGeom>
          <a:solidFill>
            <a:srgbClr val="E6E6E6"/>
          </a:solidFill>
          <a:ln w="9525">
            <a:solidFill>
              <a:srgbClr val="CCCCC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41425" y="1492151"/>
            <a:ext cx="3342382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Faster approvals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041425" y="1839292"/>
            <a:ext cx="3342382" cy="2469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2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Near real-time decisions for routine cases.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0023" y="2394793"/>
            <a:ext cx="347142" cy="347142"/>
          </a:xfrm>
          <a:prstGeom prst="roundRect">
            <a:avLst>
              <a:gd name="adj" fmla="val 18669"/>
            </a:avLst>
          </a:prstGeom>
          <a:solidFill>
            <a:srgbClr val="E6E6E6"/>
          </a:solidFill>
          <a:ln w="9525">
            <a:solidFill>
              <a:srgbClr val="CCCCC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41425" y="2447776"/>
            <a:ext cx="3342382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Fairer terms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41425" y="2794918"/>
            <a:ext cx="3342382" cy="2469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2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Alternative data reduces bias against thin-file borrowers.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0023" y="3350419"/>
            <a:ext cx="347142" cy="347142"/>
          </a:xfrm>
          <a:prstGeom prst="roundRect">
            <a:avLst>
              <a:gd name="adj" fmla="val 18669"/>
            </a:avLst>
          </a:prstGeom>
          <a:solidFill>
            <a:srgbClr val="E6E6E6"/>
          </a:solidFill>
          <a:ln w="9525">
            <a:solidFill>
              <a:srgbClr val="CCCC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41425" y="3403402"/>
            <a:ext cx="3342382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Greater accessibility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41425" y="3750543"/>
            <a:ext cx="3342382" cy="4938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2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Mobile-first applications and multilingual support expand reach.</a:t>
            </a:r>
            <a:endParaRPr lang="en-US" sz="120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64956" y="1752674"/>
            <a:ext cx="3843784" cy="21781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0023" y="424309"/>
            <a:ext cx="8063954" cy="178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Our Roadmap</a:t>
            </a:r>
            <a:endParaRPr lang="en-US" sz="11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0023" y="737964"/>
            <a:ext cx="3923184" cy="39231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685556" y="2427238"/>
            <a:ext cx="3923184" cy="2251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7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         Immediate priorities: MVP deployment and regulated pilot partners. Next 12–24 months: geographic expansion, API integrations, and enhanced compliance tooling.       </a:t>
            </a:r>
            <a:endParaRPr lang="en-US" sz="700" dirty="0"/>
          </a:p>
        </p:txBody>
      </p:sp>
      <p:sp>
        <p:nvSpPr>
          <p:cNvPr id="5" name="Shape 2"/>
          <p:cNvSpPr/>
          <p:nvPr/>
        </p:nvSpPr>
        <p:spPr>
          <a:xfrm>
            <a:off x="4685556" y="2710383"/>
            <a:ext cx="3923184" cy="249808"/>
          </a:xfrm>
          <a:prstGeom prst="roundRect">
            <a:avLst>
              <a:gd name="adj" fmla="val 14998"/>
            </a:avLst>
          </a:prstGeom>
          <a:solidFill>
            <a:srgbClr val="E6E6E6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4704" y="2829446"/>
            <a:ext cx="111472" cy="8914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975324" y="2778993"/>
            <a:ext cx="4001467" cy="112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700" dirty="0">
                <a:solidFill>
                  <a:srgbClr val="000000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Scalability built-in: modular services and cloud-native infrastructure.</a:t>
            </a:r>
            <a:endParaRPr lang="en-US" sz="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69023" y="745554"/>
            <a:ext cx="4634954" cy="3856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Call to Action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3969023" y="1362670"/>
            <a:ext cx="4634954" cy="7407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2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     Partner with Smart Lender to modernize your credit lifecycle. Pilot opportunities available — collaborate on data, compliance, and product fit to unlock safer, fairer lending at scale.   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3969023" y="2276921"/>
            <a:ext cx="4634954" cy="859929"/>
          </a:xfrm>
          <a:prstGeom prst="roundRect">
            <a:avLst>
              <a:gd name="adj" fmla="val 7536"/>
            </a:avLst>
          </a:prstGeom>
          <a:solidFill>
            <a:srgbClr val="E6E6E6"/>
          </a:solidFill>
          <a:ln w="9525">
            <a:solidFill>
              <a:srgbClr val="CCCCCC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132808" y="2440707"/>
            <a:ext cx="4307384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Interested in a pilot?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4132808" y="2726159"/>
            <a:ext cx="4307384" cy="2469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2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Contact our partnerships team to design a tailored proof-of-concept.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3969023" y="3291111"/>
            <a:ext cx="4634954" cy="1106835"/>
          </a:xfrm>
          <a:prstGeom prst="roundRect">
            <a:avLst>
              <a:gd name="adj" fmla="val 5855"/>
            </a:avLst>
          </a:prstGeom>
          <a:solidFill>
            <a:srgbClr val="E6E6E6"/>
          </a:solidFill>
          <a:ln w="9525">
            <a:solidFill>
              <a:srgbClr val="CCCCC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132808" y="3454896"/>
            <a:ext cx="4307384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Want a demo?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132808" y="3740348"/>
            <a:ext cx="4307384" cy="4938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2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Schedule a hands-on walkthrough of underwriting, scoring explanations, and the admin console.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2026-07-14T14:20:52Z</dcterms:created>
  <dcterms:modified xsi:type="dcterms:W3CDTF">2026-07-14T14:20:52Z</dcterms:modified>
</cp:coreProperties>
</file>